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7" r:id="rId2"/>
    <p:sldId id="27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자산비율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2E1-4D9B-A015-1455E10443A4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E1-4D9B-A015-1455E10443A4}"/>
              </c:ext>
            </c:extLst>
          </c:dPt>
          <c:cat>
            <c:strRef>
              <c:f>Sheet1!$A$2:$A$3</c:f>
              <c:strCache>
                <c:ptCount val="2"/>
                <c:pt idx="0">
                  <c:v>자본</c:v>
                </c:pt>
                <c:pt idx="1">
                  <c:v>부채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2E1-4D9B-A015-1455E1044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재무비율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부채비율</c:v>
                </c:pt>
                <c:pt idx="1">
                  <c:v>유동비율</c:v>
                </c:pt>
                <c:pt idx="2">
                  <c:v>순이익률</c:v>
                </c:pt>
                <c:pt idx="3">
                  <c:v>매출증가율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90</c:v>
                </c:pt>
                <c:pt idx="2">
                  <c:v>65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A9-452C-B05D-86108BD49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등급분포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C1-43FD-8E51-665D48C6D4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건전성 점수</c:v>
                </c:pt>
              </c:strCache>
            </c:strRef>
          </c:tx>
          <c:spPr>
            <a:ln w="381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1차</c:v>
                </c:pt>
                <c:pt idx="1">
                  <c:v>2차</c:v>
                </c:pt>
                <c:pt idx="2">
                  <c:v>3차</c:v>
                </c:pt>
                <c:pt idx="3">
                  <c:v>4차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71</c:v>
                </c:pt>
                <c:pt idx="2">
                  <c:v>79</c:v>
                </c:pt>
                <c:pt idx="3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E8-47AF-ABE7-3FB350CFD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63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89B91BB-8166-31C8-8355-0F1915BF294E}"/>
              </a:ext>
            </a:extLst>
          </p:cNvPr>
          <p:cNvSpPr/>
          <p:nvPr/>
        </p:nvSpPr>
        <p:spPr>
          <a:xfrm>
            <a:off x="822960" y="822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26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861FC52-D7DC-1E66-710F-D1CB5A81CCAE}"/>
              </a:ext>
            </a:extLst>
          </p:cNvPr>
          <p:cNvSpPr/>
          <p:nvPr/>
        </p:nvSpPr>
        <p:spPr>
          <a:xfrm>
            <a:off x="822960" y="1600204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기업 재무 건전성 진단 시스템</a:t>
            </a:r>
            <a:endParaRPr lang="en-US" sz="40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36921DF-8DA4-330D-A007-6F8B0CA79A89}"/>
              </a:ext>
            </a:extLst>
          </p:cNvPr>
          <p:cNvSpPr/>
          <p:nvPr/>
        </p:nvSpPr>
        <p:spPr>
          <a:xfrm>
            <a:off x="822960" y="286655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 기반 A·B·C·D 4등급 자동 진단 · Streamlit 웹 애플리케이션</a:t>
            </a:r>
            <a:endParaRPr lang="en-US" sz="15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8D5B57-7C43-D85F-81EC-A0A12E35022C}"/>
              </a:ext>
            </a:extLst>
          </p:cNvPr>
          <p:cNvSpPr/>
          <p:nvPr/>
        </p:nvSpPr>
        <p:spPr>
          <a:xfrm>
            <a:off x="822960" y="3598078"/>
            <a:ext cx="27432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13A09-CDDC-98ED-B320-5744EC5A1B64}"/>
              </a:ext>
            </a:extLst>
          </p:cNvPr>
          <p:cNvSpPr txBox="1"/>
          <p:nvPr/>
        </p:nvSpPr>
        <p:spPr>
          <a:xfrm>
            <a:off x="8885209" y="4590112"/>
            <a:ext cx="294160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/>
              <a:t>김해찬</a:t>
            </a:r>
            <a:r>
              <a:rPr lang="en-US" altLang="ko-KR" sz="2100" dirty="0"/>
              <a:t>,</a:t>
            </a:r>
            <a:r>
              <a:rPr lang="ko-KR" altLang="en-US" sz="2100" dirty="0" err="1"/>
              <a:t>현민기</a:t>
            </a:r>
            <a:r>
              <a:rPr lang="en-US" altLang="ko-KR" sz="2100" dirty="0"/>
              <a:t>,</a:t>
            </a:r>
            <a:r>
              <a:rPr lang="ko-KR" altLang="en-US" sz="2100" dirty="0"/>
              <a:t>최정희</a:t>
            </a:r>
          </a:p>
        </p:txBody>
      </p:sp>
    </p:spTree>
    <p:extLst>
      <p:ext uri="{BB962C8B-B14F-4D97-AF65-F5344CB8AC3E}">
        <p14:creationId xmlns:p14="http://schemas.microsoft.com/office/powerpoint/2010/main" val="256361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E05DEEF-A30C-5A03-2A13-403DD8214905}"/>
              </a:ext>
            </a:extLst>
          </p:cNvPr>
          <p:cNvSpPr/>
          <p:nvPr/>
        </p:nvSpPr>
        <p:spPr>
          <a:xfrm>
            <a:off x="82296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000" dirty="0">
              <a:solidFill>
                <a:srgbClr val="0070C0"/>
              </a:solidFill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61C572A-24FB-EBA4-51E6-5BFDFB4DBE0A}"/>
              </a:ext>
            </a:extLst>
          </p:cNvPr>
          <p:cNvSpPr/>
          <p:nvPr/>
        </p:nvSpPr>
        <p:spPr>
          <a:xfrm>
            <a:off x="822960" y="15544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E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3ECAA38-E787-ED7E-9A7C-49024E08C83D}"/>
              </a:ext>
            </a:extLst>
          </p:cNvPr>
          <p:cNvSpPr/>
          <p:nvPr/>
        </p:nvSpPr>
        <p:spPr>
          <a:xfrm>
            <a:off x="1764967" y="1691640"/>
            <a:ext cx="0" cy="685800"/>
          </a:xfrm>
          <a:prstGeom prst="line">
            <a:avLst/>
          </a:prstGeom>
          <a:noFill/>
          <a:ln w="19050">
            <a:solidFill>
              <a:srgbClr val="2C3B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A6F5753-086F-42BE-6C9B-E48D1053B3E8}"/>
              </a:ext>
            </a:extLst>
          </p:cNvPr>
          <p:cNvSpPr/>
          <p:nvPr/>
        </p:nvSpPr>
        <p:spPr>
          <a:xfrm>
            <a:off x="219456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배경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E7224CA9-B90D-A8AB-0C29-46244EBD3313}"/>
              </a:ext>
            </a:extLst>
          </p:cNvPr>
          <p:cNvSpPr/>
          <p:nvPr/>
        </p:nvSpPr>
        <p:spPr>
          <a:xfrm>
            <a:off x="219456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필요한가, 기존 방식의 한계, 목표</a:t>
            </a:r>
            <a:endParaRPr lang="en-US" sz="1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192A308-A11F-10FA-0F55-1AD9DD0D093F}"/>
              </a:ext>
            </a:extLst>
          </p:cNvPr>
          <p:cNvSpPr/>
          <p:nvPr/>
        </p:nvSpPr>
        <p:spPr>
          <a:xfrm>
            <a:off x="822960" y="26974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E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580284ED-5D6F-F360-B970-8C0E2576AA2D}"/>
              </a:ext>
            </a:extLst>
          </p:cNvPr>
          <p:cNvSpPr/>
          <p:nvPr/>
        </p:nvSpPr>
        <p:spPr>
          <a:xfrm>
            <a:off x="1764967" y="2834640"/>
            <a:ext cx="0" cy="685800"/>
          </a:xfrm>
          <a:prstGeom prst="line">
            <a:avLst/>
          </a:prstGeom>
          <a:noFill/>
          <a:ln w="19050">
            <a:solidFill>
              <a:srgbClr val="2C3B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255C0BCB-330C-BCD1-8911-F8AAEEBC9BC4}"/>
              </a:ext>
            </a:extLst>
          </p:cNvPr>
          <p:cNvSpPr/>
          <p:nvPr/>
        </p:nvSpPr>
        <p:spPr>
          <a:xfrm>
            <a:off x="219456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개요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3B7C91C9-F216-A0B8-5969-1F62BECE2A4E}"/>
              </a:ext>
            </a:extLst>
          </p:cNvPr>
          <p:cNvSpPr/>
          <p:nvPr/>
        </p:nvSpPr>
        <p:spPr>
          <a:xfrm>
            <a:off x="2194560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· 기술 스택 · AI 모델</a:t>
            </a:r>
            <a:endParaRPr lang="en-US" sz="12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66ADE2F8-3D5B-218C-AB09-8F4EF57CD041}"/>
              </a:ext>
            </a:extLst>
          </p:cNvPr>
          <p:cNvSpPr/>
          <p:nvPr/>
        </p:nvSpPr>
        <p:spPr>
          <a:xfrm>
            <a:off x="822960" y="38404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E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4A6A413E-7F75-4072-57FE-499F54B988EA}"/>
              </a:ext>
            </a:extLst>
          </p:cNvPr>
          <p:cNvSpPr/>
          <p:nvPr/>
        </p:nvSpPr>
        <p:spPr>
          <a:xfrm>
            <a:off x="1764967" y="3977640"/>
            <a:ext cx="0" cy="685800"/>
          </a:xfrm>
          <a:prstGeom prst="line">
            <a:avLst/>
          </a:prstGeom>
          <a:noFill/>
          <a:ln w="19050">
            <a:solidFill>
              <a:srgbClr val="2C3B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2137DDD-DAD1-D8C7-8C7D-F676FFF47896}"/>
              </a:ext>
            </a:extLst>
          </p:cNvPr>
          <p:cNvSpPr/>
          <p:nvPr/>
        </p:nvSpPr>
        <p:spPr>
          <a:xfrm>
            <a:off x="219456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데모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A3588BD7-FA5F-EC6E-CC28-7B8B817096C6}"/>
              </a:ext>
            </a:extLst>
          </p:cNvPr>
          <p:cNvSpPr/>
          <p:nvPr/>
        </p:nvSpPr>
        <p:spPr>
          <a:xfrm>
            <a:off x="219456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· 대시보드 · 개별진단 · 일괄분석 · 이력관리</a:t>
            </a:r>
            <a:endParaRPr lang="en-US" sz="12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4553342A-2FD9-32AC-935C-C2B4F2412EB2}"/>
              </a:ext>
            </a:extLst>
          </p:cNvPr>
          <p:cNvSpPr/>
          <p:nvPr/>
        </p:nvSpPr>
        <p:spPr>
          <a:xfrm>
            <a:off x="822960" y="49834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4E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0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F1882E42-81DB-A10E-CE54-3B7D75C2E7DA}"/>
              </a:ext>
            </a:extLst>
          </p:cNvPr>
          <p:cNvSpPr/>
          <p:nvPr/>
        </p:nvSpPr>
        <p:spPr>
          <a:xfrm>
            <a:off x="1764967" y="5120640"/>
            <a:ext cx="0" cy="685800"/>
          </a:xfrm>
          <a:prstGeom prst="line">
            <a:avLst/>
          </a:prstGeom>
          <a:noFill/>
          <a:ln w="19050">
            <a:solidFill>
              <a:srgbClr val="2C3B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B66CBA88-5AF6-9544-34DD-BD5EBB656B69}"/>
              </a:ext>
            </a:extLst>
          </p:cNvPr>
          <p:cNvSpPr/>
          <p:nvPr/>
        </p:nvSpPr>
        <p:spPr>
          <a:xfrm>
            <a:off x="2194560" y="4983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5042EAF-76EE-05B4-D0BC-A8BF1D36D9A5}"/>
              </a:ext>
            </a:extLst>
          </p:cNvPr>
          <p:cNvSpPr/>
          <p:nvPr/>
        </p:nvSpPr>
        <p:spPr>
          <a:xfrm>
            <a:off x="219456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요약 · 향후 계획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9901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부실을 늦게 발견하면, 그 대가는 훨씬 커집니다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의사결정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재무제표를 사람이 하나씩 대조·분석 → 결과가 나오기까지 오래 걸림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61772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주관적 판단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담당자의 경험과 기준에 따라 같은 기업도 다르게 평가될 수 있음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366760" y="2148840"/>
            <a:ext cx="685800" cy="68580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6676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66760" y="30175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조기 탐지 실패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 징후를 늦게 알아챌수록 대응 여지가 줄어듦 (연쇄 부도·투자 손실)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방식의 한계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재무 분석 vs AI 기반 자동 진단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058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 재무제표 분석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재무제표를 사람이 직접 대조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분석 기준이 담당자마다 다름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다수 기업 비교 시 시간 소요 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이력 관리·재조회가 번거로움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836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자동 진단 시스템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63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4개 핵심 지표로 즉시 등급 산출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0" y="35204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RandomForest 기준 일관된 평가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0" y="3977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CSV/Excel 업로드로 일괄 분석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4434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DB 이력 저장·검색·추이 확인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목표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4등급 건전성을 빠르고 객관적으로 진단한다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94460" y="2423160"/>
            <a:ext cx="1005840" cy="100584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394460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최우수/우수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 구조가 매우 탄탄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0712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165092" y="2423160"/>
            <a:ext cx="1005840" cy="100584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65092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93592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양호/보통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4069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잡힌 자산 구조 유지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935724" y="2423160"/>
            <a:ext cx="1005840" cy="100584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935724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64224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워크아웃 대상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4069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 징후 조기 탐지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51976" y="2103120"/>
            <a:ext cx="2514600" cy="29260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706356" y="2423160"/>
            <a:ext cx="1005840" cy="1005840"/>
          </a:xfrm>
          <a:prstGeom prst="ellipse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706356" y="2423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134856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법정관리 대상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34856" y="4069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고위험, 즉각 구조조정 필요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4개 핵심 재무비율(부채비율·유동비율·순이익률·매출증가율)만으로 즉시, 일관되게, 근거를 가지고 진단한다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011680" y="2377440"/>
            <a:ext cx="731520" cy="73152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0116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애플리케이션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 / 파일 업로드 / 결과 시각화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77640" y="29718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989320" y="2377440"/>
            <a:ext cx="731520" cy="73152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893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77377" y="320299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재무비율 → A/B/C/D 등급 예측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55280" y="297180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732520" y="2103120"/>
            <a:ext cx="3200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966960" y="2377440"/>
            <a:ext cx="731520" cy="73152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9669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🗄️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91540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SQLite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0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이력 저장 · 조회 · 통계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계층에 맞는 라이브러리로 구성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64592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프레임워크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800600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(RandomForest)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641080" y="210312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32688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/>
              <a:t>SQLite</a:t>
            </a:r>
          </a:p>
        </p:txBody>
      </p:sp>
      <p:sp>
        <p:nvSpPr>
          <p:cNvPr id="15" name="Text 13"/>
          <p:cNvSpPr/>
          <p:nvPr/>
        </p:nvSpPr>
        <p:spPr>
          <a:xfrm>
            <a:off x="9326880" y="24688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60120" y="38404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64592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Plotly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시각화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800600" y="38404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Pandas / NumPy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처리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66760" y="35204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641080" y="384048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F5A6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326880" y="3703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fpdf2 · openpyxl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26880" y="42062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· 엑셀 출력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설명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 — 4개 입력 지표로 4등급을 예측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부채비율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유동비율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순이익률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매출증가율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2743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200400" cy="2971800"/>
          </a:xfrm>
          <a:prstGeom prst="roundRect">
            <a:avLst>
              <a:gd name="adj" fmla="val 2462"/>
            </a:avLst>
          </a:prstGeom>
          <a:solidFill>
            <a:srgbClr val="121A3D"/>
          </a:solidFill>
          <a:ln w="12700">
            <a:solidFill>
              <a:srgbClr val="121A3D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🌲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480560" y="2971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다수의 결정 트리가 함께 투표하여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안정적인 분류 결과를 산출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2743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778240" y="182880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778240" y="18288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A등급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260604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778240" y="26060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B등급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78240" y="338328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778240" y="33832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C등급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78240" y="4160520"/>
            <a:ext cx="2651760" cy="594360"/>
          </a:xfrm>
          <a:prstGeom prst="roundRect">
            <a:avLst>
              <a:gd name="adj" fmla="val 12308"/>
            </a:avLst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778240" y="41605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D등급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정확도는 대시보드에서 실측값(OOB/테스트 셋 기준)으로 실시간 표시됩니다.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화면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핵심 메뉴로 구성된 진입 화면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현황 및 KPI · 빠른 진단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749040" y="224028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749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74904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474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1개 상세 분석 · What-If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583680" y="224028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분석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474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CSV/Excel 다중 분석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0" y="19659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418320" y="2240280"/>
            <a:ext cx="640080" cy="64008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4183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41832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이력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4747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 이력 조회 · 추이 · 삭제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누적 현황을 한눈에 — KPI 카드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AI 기반 기업 재무 건전성 진단 시스템 › 대시보드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분석 기업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32개사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11880" y="23317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기업 (D등급)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3개사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355080" y="23317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58368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기업 (C등급)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5개사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98280" y="233172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32688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진단 정확도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268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94.3%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68680" y="3794760"/>
            <a:ext cx="10424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분포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82508" y="4855464"/>
            <a:ext cx="1121283" cy="63093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508188" y="4562856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188" y="5532120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A등급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4249" y="4434840"/>
            <a:ext cx="1121283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999928" y="4142232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99928" y="5532120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B등급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5989" y="5135880"/>
            <a:ext cx="1121283" cy="350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91669" y="4843272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1669" y="5532120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C등급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57729" y="5276088"/>
            <a:ext cx="1121283" cy="21031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983409" y="4983480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83409" y="5532120"/>
            <a:ext cx="16699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D등급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수치만 입력해 즉시 등급 확인 — 빠른 진단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 AI 기반 기업 재무 건전성 진단 시스템 › 대시보드 › 빠른 진단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 </a:t>
            </a:r>
            <a:r>
              <a:rPr lang="ko-KR" alt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</a:t>
            </a: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진단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97180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 매출액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347472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매출액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397764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280160" y="3977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당기순이익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7280" y="448056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280160" y="4480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유동자산 / 유동부채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97280" y="4983480"/>
            <a:ext cx="44805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280160" y="49834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부채총계 / 자본총계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955280" y="278892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955280" y="27889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3504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A등급 · 91점 / 100점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최우수/우수 정상 기업 — 재무 구조가 매우 탄탄합니다.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 ①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정보와 재무 수치를 입력합니다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개별 진단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기업 정보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97280" y="3584448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28016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💵 손익계산서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 매출액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3584448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02920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매출액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4151376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0" y="41513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당기순이익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66760" y="233172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953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🛡️ 재무상태표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95360" y="3017520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778240" y="30175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유동자산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95360" y="3584448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778240" y="358444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유동부채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595360" y="4151376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8778240" y="415137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부채총계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4718304"/>
            <a:ext cx="2971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8778240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자본총계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 ②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진단 결과 — 등급 · 점수 · 4대 재무비율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개별 진단 › 결과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1042416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4300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(주)가나제조 · 제조업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2606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143000" y="3456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A등급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692640" y="2514600"/>
            <a:ext cx="1051560" cy="10515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92640" y="2606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92640" y="31089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/100점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68680" y="40233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9728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부채비율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97280" y="4572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66.7%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3611880" y="40233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유동비율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40480" y="4572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200.0%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순이익률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0" y="4572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10.0%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9098280" y="40233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2688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매출증가율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26880" y="45720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11.1%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 ③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비율 · 재무 비율 시각화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개별 진단 › 시각화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자산 비율</a:t>
            </a:r>
            <a:endParaRPr lang="en-US" sz="12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377440" y="2880360"/>
          <a:ext cx="237744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233172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4652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주요 재무 비율</a:t>
            </a:r>
            <a:endParaRPr lang="en-US" sz="12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6400800" y="2834640"/>
          <a:ext cx="4663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 ④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What-If 시뮬레이션 — 목표를 바꾸면 등급이 어떻게 변할까?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개별 진단 › What-If 시뮬레이션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🔮 시뮬레이션 조건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매출증가율 목표(%)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97280" y="3337560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97280" y="3337560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 감축률(%)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4160520"/>
            <a:ext cx="4480560" cy="27432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41605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97280" y="475488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실행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 결과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점수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63640" y="3383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94점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2636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+7점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등급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0" y="33832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진단 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추가된 기능 — PDF 리포트 다운로드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개별 진단 › 결과 하단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1042416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143000" y="24688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28600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87점 / 100점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3977640"/>
            <a:ext cx="5074920" cy="594360"/>
          </a:xfrm>
          <a:prstGeom prst="roundRect">
            <a:avLst>
              <a:gd name="adj" fmla="val 12308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 PDF 리포트 다운로드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507492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39776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DB 저장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기업정보 · 등급 · 재무비율 4종 · AI 핵심 의견을 담은 1페이지 리포트가 즉시 생성되어, 회의나 보고 자료로 바로 활용할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일괄 분석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CSV/Excel 업로드로 여러 기업을 한 번에 진단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일괄 분석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68680" y="233172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9728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📁 파일 업로드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971800"/>
            <a:ext cx="448056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28016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financial_data_20개사.csv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4069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20개 기업 업로드 완료!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C등급(2개사) · 🚨 D등급(1개사) 확인됨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97280" y="4937760"/>
            <a:ext cx="4480560" cy="502920"/>
          </a:xfrm>
          <a:prstGeom prst="roundRect">
            <a:avLst>
              <a:gd name="adj" fmla="val 14545"/>
            </a:avLst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4937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DB 저장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636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등급 분포 (20개사)</a:t>
            </a:r>
            <a:endParaRPr lang="en-US" sz="12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6263640" y="2926080"/>
          <a:ext cx="47548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이력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조회 · 등급 변동 추이 · 삭제 관리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411480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1051560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분석 이력 › 등급 변동 추이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331720"/>
            <a:ext cx="6309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(주)가나제조 — 등급 변동 추이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1005840" y="2880360"/>
          <a:ext cx="59436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406640" y="2331720"/>
            <a:ext cx="3886200" cy="3383280"/>
          </a:xfrm>
          <a:prstGeom prst="roundRect">
            <a:avLst>
              <a:gd name="adj" fmla="val 2162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63524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🗑️ 이력 삭제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635240" y="29260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F1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불필요하거나 잘못 입력된 이력을 선택해 일괄 삭제할 수 있습니다.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635240" y="3886200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772400" y="3886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(주)가나제조 · 2026-08-01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635240" y="4389120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7772400" y="4389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☑ (주)나다유통 · 2026-08-03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35240" y="493776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7635240" y="4937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2건 삭제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요약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구현된 핵심 기능 정리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92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메뉴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 · 대시보드 · 개별진단 · 일괄분석 · 이력관리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92240" y="1965960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92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89280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자동 진단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6948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RandomForest 기반 A/B/C/D 4등급 예측 (실측 정확도 표시)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68680" y="3127248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68680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🔮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0540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What-If 시뮬레이션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45920" y="3401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수치 조정 시 예상 등급 변화 확인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944368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92240" y="3127248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31272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305409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리포트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3401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결과를 1페이지 리포트로 즉시 다운로드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105656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868680" y="4288536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868680" y="4288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645920" y="42153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 변동 추이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45920" y="45628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기업의 시간별 건전성 점수 변화 추적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105656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492240" y="4288536"/>
            <a:ext cx="594360" cy="594360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92240" y="42885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🗑️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69480" y="421538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이력 관리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456285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저장 이력 조회 · 검색 · 선택 삭제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계획 &amp; Q&amp;A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1E2E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63040" y="190195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/ 사용자 권한 분리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3042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접근 제어로 실무 배포 수준 강화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1E2E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9535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산업군별 벤치마크 비교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33558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동종 업계 평균과 비교하는 상대 평가 지표 추가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457200" cy="457200"/>
          </a:xfrm>
          <a:prstGeom prst="ellipse">
            <a:avLst/>
          </a:prstGeom>
          <a:solidFill>
            <a:srgbClr val="1E2E6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40050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데이터 연동 확장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40740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 DART API로 최신 공시 데이터 자동 수집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394960"/>
            <a:ext cx="10515600" cy="0"/>
          </a:xfrm>
          <a:prstGeom prst="line">
            <a:avLst/>
          </a:prstGeom>
          <a:noFill/>
          <a:ln w="12700">
            <a:solidFill>
              <a:srgbClr val="2C3B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F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경영캡스톤디자인 졸업연구 2 · 최종 발표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1035</Words>
  <Application>Microsoft Office PowerPoint</Application>
  <PresentationFormat>와이드스크린</PresentationFormat>
  <Paragraphs>291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해찬 김</cp:lastModifiedBy>
  <cp:revision>8</cp:revision>
  <dcterms:created xsi:type="dcterms:W3CDTF">2026-09-09T12:58:51Z</dcterms:created>
  <dcterms:modified xsi:type="dcterms:W3CDTF">2026-09-13T05:03:13Z</dcterms:modified>
</cp:coreProperties>
</file>